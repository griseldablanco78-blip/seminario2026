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542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0. Objetivo visible desde el arranque.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0. Objetivo visible desde el arranque.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0. Anotar tres respuestas del chat en pantalla, sin corregirlas. Vuelven en el bloque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0. Dejar la pregunta abierta; se responde en el bloque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1. Tres definiciones cortas. No profundizar: la Clase 5 separa esto en dos carpetas.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1. Cierre del bloque: queda planteada la deuda que resuelve Spaces.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2. Compartir pantalla con app.py abierto.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2. La última fila es el gancho del bloque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2. Contar los votos en voz alta antes de ejecutar.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2. Ejecutar el error en vivo antes de mostrar la explicación.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Python. En vivo solo lo necesario para leer el código de Gradio; el resto está en el machete.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El caso "sin return" explica un error frecuente en la actividad.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Este es el motivo por el que return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Fernando Venini programa en C++/C#/Java: es probable que marque la diferencia. Mejor decirla nosotros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No entrar en la palabra clave global: alcanza con la regla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Concepto pedido explícitamente. Va al glosario.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Enunciar la aclaración de frente para que no quede instalada una regla falsa.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La regla del punto y los paréntesis es lo único que hace falta que retengan.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3. Lo hace solo la docente en su máquina. No pedir que lo repliquen.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3. Deshacer el rename antes de seguir, para que la demo quede igual a la de ellos.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3. Un minuto. Es el primer candidato al recorte si el reloj apremia.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3. Models y datasets se dan como mapa, no como tema. Se desarrollan en la Unidad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nuevo. Esperar el "ok" de la mayoría antes de avanzar. Los que se atrasen siguen con un compañero.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4. En lockstep con la docente, no en paralelo libre.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4. Dejar que respondan antes de mostrar la caja.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4. Guardá esta imagen: vuelve en el bloque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4. Esta diapositiva es la que se cita en el bloque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5. Riesgo Windows: token mal copiado queda cacheado. Procedimiento en el machete, sección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6. Bloque central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6. Contar los votos: te dice cuántos entendieron que el Space ya tiene historia propia.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6. No resolver todavía. El objetivo es romper el reflejo de copiar el error a la IA sin leerlo.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6. Explicar los marcadores antes de resolver.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INTENCIONAL 2. Es la decisión natural y borra el encabezado de configuración. No corregirlos: la consecuencia aparece en el bloque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7. Cuando alguien diga "el README", esa persona entendió el bloque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7. Reponer el bloque y dejar debajo la descripción propia.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7. Esperar juntos a que el primero lo tenga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8. Cierra el arco abierto en el bloque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10. Núcleo: alcanza con mostrar dónde está la documentación.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11. Expansión: es el primer recorte si el reloj apremia.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12. Arrancar en clase el primer paso: abrir la documentación y elegir un componente.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13. NO se recorta bajo ninguna circunstancia.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/mnt/user-data/uploads/IFTS18 SUBIR A DRIVE/moodle marca y plantillas/marca/logo institu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057400" y="8046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DE FORMACIÓN TÉCNICA SUPERIOR N.º 18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1152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Tecnicatura Superior en Ciencia de Datos e Inteligencia Artificial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77240" y="2359152"/>
            <a:ext cx="566928" cy="100584"/>
          </a:xfrm>
          <a:prstGeom prst="rect">
            <a:avLst/>
          </a:prstGeom>
          <a:solidFill>
            <a:srgbClr val="FFCD0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777240" y="2587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CD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SEMINARIO DE ACTUALIZACIÓN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4: Del repositorio local al Space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77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 aplicación · Seminario de Actualización · IFTS N.º 18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35240" y="2423160"/>
            <a:ext cx="3794760" cy="1517904"/>
          </a:xfrm>
          <a:prstGeom prst="roundRect">
            <a:avLst>
              <a:gd name="adj" fmla="val 3012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790688" y="256946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7946136" y="256946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8101584" y="256946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8458200" y="250545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proygradhf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2825496"/>
            <a:ext cx="32461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huggingface-cli login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remote add space &lt;url&gt;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space main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 space main --allow-unrelated-histories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440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CD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Cynthia M. Villagra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5440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CD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LECTIVO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Segundo cuatrimestre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5440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CD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77824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4 de septiembre de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3A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te vas hoy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801368"/>
            <a:ext cx="292608" cy="292608"/>
          </a:xfrm>
          <a:prstGeom prst="ellipse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566928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1783080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dirección web pública con tu aplicación funcionando.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2313432"/>
            <a:ext cx="292608" cy="292608"/>
          </a:xfrm>
          <a:prstGeom prst="ellipse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566928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2295144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cuenta de Hugging Face, creada hoy en clase.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66928" y="2825496"/>
            <a:ext cx="292608" cy="292608"/>
          </a:xfrm>
          <a:prstGeom prst="ellipse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566928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" y="2807208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repositorio local conectado a dos lugares distintos a la vez.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3337560"/>
            <a:ext cx="292608" cy="292608"/>
          </a:xfrm>
          <a:prstGeom prst="ellipse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566928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3319272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de despliegue provocado a propósito, y su solución.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66928" y="3849624"/>
            <a:ext cx="292608" cy="292608"/>
          </a:xfrm>
          <a:prstGeom prst="ellipse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566928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" y="3831336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para hablar de todo esto: función, objeto, método, atributo, API, SDK.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66928" y="4434840"/>
            <a:ext cx="9930384" cy="502920"/>
          </a:xfrm>
          <a:prstGeom prst="roundRect">
            <a:avLst>
              <a:gd name="adj" fmla="val 9091"/>
            </a:avLst>
          </a:prstGeom>
          <a:solidFill>
            <a:srgbClr val="F0F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 txBox="1"/>
          <p:nvPr/>
        </p:nvSpPr>
        <p:spPr>
          <a:xfrm>
            <a:off x="795528" y="4434840"/>
            <a:ext cx="9473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se sigue en vivo: todo lo que hago en pantalla lo hacen ustedes al mismo tiempo.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consigna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Pegá en el chat el link de tu repositorio de GitHub. No lo abras: solo pegalo.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F8E9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795528" y="2258568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AHORA PENSÁ  </a:t>
            </a:r>
            <a:r>
              <a:rPr lang="en-US" sz="1400" dirty="0">
                <a:solidFill>
                  <a:srgbClr val="1F2430"/>
                </a:solidFill>
              </a:rPr>
              <a:t>Ese link se lo mandás a alguien de tu familia que no programa. ¿Qué hace con eso?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B96A0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 falta a tu proyecto?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Respondan por chat o por micrófono. No hay respuesta incorrecta todavía.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4828032" cy="1179576"/>
          </a:xfrm>
          <a:prstGeom prst="roundRect">
            <a:avLst>
              <a:gd name="adj" fmla="val 4651"/>
            </a:avLst>
          </a:prstGeom>
          <a:solidFill>
            <a:srgbClr val="F0F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749808" y="227685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TENÉS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24328"/>
            <a:ext cx="4462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que funciona, guardada y versionada.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2148840"/>
            <a:ext cx="4828032" cy="886968"/>
          </a:xfrm>
          <a:prstGeom prst="roundRect">
            <a:avLst>
              <a:gd name="adj" fmla="val 6186"/>
            </a:avLst>
          </a:prstGeom>
          <a:solidFill>
            <a:srgbClr val="F0F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5852160" y="227685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6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TENÉS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624328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que una persona pueda abrir y usar.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aplicación tiene tres piezas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ve?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lógica. Decide, calcula, consulta.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interfaz. Lo que la persona toca. No decide nada.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intermediario. Recibe algo y responde algo.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66928" y="3319272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1EE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841248" y="3319272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nunca habla directo con la lógica: siempre hay una API en el medio.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proyecto es puro backend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Tenés la lógica. No tenés interfaz y no tenés API.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genera las dos cosas a partir de tu script. Hoy vamos a ver que es literal.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todavía falta algo más: una máquina que lo ejecute y no se apague.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852928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1EE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841248" y="2852928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máquina es Hugging Face Spaces.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aplicación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2505456"/>
          </a:xfrm>
          <a:prstGeom prst="roundRect">
            <a:avLst>
              <a:gd name="adj" fmla="val 2190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gradio as gr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saludar(nombre):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f"Hola {nombre}"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= gr.Interface(fn=saludar, inputs="text", outputs="text")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demo.launch()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88536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líneas útiles. Vamos a mirarlas una por una.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cada pieza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el código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 saludar(nombre)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función y su parámetro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f"Hola {nombre}"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devuelve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inputs="text"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dibuja y qué tipo de dato entra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outputs="text"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dibuja y qué tipo de dato sale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 está escrita)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API que conecta las 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Gradio la genera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B96A0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le pongo paréntesis?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749808"/>
          </a:xfrm>
          <a:prstGeom prst="roundRect">
            <a:avLst>
              <a:gd name="adj" fmla="val 7317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= gr.Interface(fn=saludar(), inputs="text", outputs="text")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532888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F8E9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795528" y="2642616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VOTÁ POR EL CHAT, ANTES DE EJECUTAR  </a:t>
            </a:r>
            <a:r>
              <a:rPr lang="en-US" sz="1400" dirty="0">
                <a:solidFill>
                  <a:srgbClr val="1F2430"/>
                </a:solidFill>
              </a:rPr>
              <a:t>a) Funciona igual.   b) Da error.   c) Funciona, pero mal.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A82F2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una función no es entregarla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4828032" cy="1764792"/>
          </a:xfrm>
          <a:prstGeom prst="roundRect">
            <a:avLst>
              <a:gd name="adj" fmla="val 3109"/>
            </a:avLst>
          </a:prstGeom>
          <a:solidFill>
            <a:srgbClr val="F0F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749808" y="17282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saludar()  con paréntesis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75688"/>
            <a:ext cx="446227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llamás vos, ahí mismo.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pasás a Gradio el resultado.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recibe un texto, no una función.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600200"/>
            <a:ext cx="4828032" cy="2057400"/>
          </a:xfrm>
          <a:prstGeom prst="roundRect">
            <a:avLst>
              <a:gd name="adj" fmla="val 2667"/>
            </a:avLst>
          </a:prstGeom>
          <a:solidFill>
            <a:srgbClr val="F0F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5852160" y="17282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saludar  sin paréntesis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075688"/>
            <a:ext cx="4462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entregás la función entera.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la guarda.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llama él, cuando alguien aprieta el botón.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840480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F8E9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841248" y="3840480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A8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escribís la función. Otro decide cuándo se ejecuta. Eso vuelve en la Clase 5.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función, en tres partes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627632"/>
          </a:xfrm>
          <a:prstGeom prst="roundRect">
            <a:avLst>
              <a:gd name="adj" fmla="val 3371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saludar(nombre):        # nombre es el PARÁMETRO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f"Hola {nombre}" # esto es lo que DEVUELVE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saludar("Ana")              # esto es LLAMARLA. "Ana" es el ARGUMENTO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410712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Parámetro: el nombre que la función usa adentro. Existe solo ahí.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Argumento: el valor concreto que le pasás al llamarla.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el valor que la función entrega hacia afuera.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parámetro y el return son opcionales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2798064"/>
          </a:xfrm>
          <a:prstGeom prst="roundRect">
            <a:avLst>
              <a:gd name="adj" fmla="val 1961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saludar():              # sin parámetro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"Hola"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avisar(mensaje):        # con parámetro, sin return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print(mensaje)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nada():                 # sin ninguno de los dos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print("listo")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581144"/>
            <a:ext cx="9930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sin return igual devuelve algo: devuelve None. Por eso una función que solo imprime no sirve para Gradio: no hay nada que mostrar en la salida.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crea adentro, muere adentro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2212848"/>
          </a:xfrm>
          <a:prstGeom prst="roundRect">
            <a:avLst>
              <a:gd name="adj" fmla="val 2479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sumar(a, b):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a + b       # total vive SOLO acá adentro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sumar(2, 3)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            # NameError: total no existe acá afuera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995928"/>
            <a:ext cx="9930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abre un espacio propio. Cuando termina, todo lo que creó adentro desaparece. Lo único que sobrevive es lo que devolvió con return.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bucle NO hace lo mismo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920240"/>
          </a:xfrm>
          <a:prstGeom prst="roundRect">
            <a:avLst>
              <a:gd name="adj" fmla="val 2857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ultimo = i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print(i)         # 2   ← sigue existiendo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print(ultimo)    # 2   ← también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03320"/>
            <a:ext cx="9930384" cy="13716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795528" y="3813048"/>
            <a:ext cx="9473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08400"/>
                </a:solidFill>
              </a:rPr>
              <a:t>LA TRAMPA  </a:t>
            </a:r>
            <a:r>
              <a:rPr lang="en-US" sz="1400" dirty="0">
                <a:solidFill>
                  <a:srgbClr val="1F2430"/>
                </a:solidFill>
              </a:rPr>
              <a:t>En Python, el que crea un espacio propio es la función. El bucle y el if no. En C, C#, Java o JavaScript esto es al revés. Si venís de ahí, te va a sorprender.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y local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920240"/>
          </a:xfrm>
          <a:prstGeom prst="roundRect">
            <a:avLst>
              <a:gd name="adj" fmla="val 2857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saludo = "Hola"          # GLOBAL: definida afuera de toda función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saludar(nombre):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completo = saludo + " " + nombre   # puede LEER la global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completo                    # completo es LOCAL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703320"/>
            <a:ext cx="9930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puede leer una variable global sin pedir permiso.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modificarla necesita declararlo, y casi siempre es señal de que algo está mal diseñado.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lo que entra, entra por parámetro. Lo que sale, sale por return.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Instanciar un objeto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749808"/>
          </a:xfrm>
          <a:prstGeom prst="roundRect">
            <a:avLst>
              <a:gd name="adj" fmla="val 7317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= gr.Interface(fn=saludar, inputs="text", outputs="text")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532888"/>
            <a:ext cx="9930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es la CLASE: el molde. Describe qué tiene y qué sabe hacer, pero no es nada todavía.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línea INSTANCIA la clase: fabrica un ejemplar concreto a partir del molde.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es el OBJETO: el ejemplar que quedó fabricado, con sus valores propios.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escriben igual, y no son lo mismo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042416"/>
          </a:xfrm>
          <a:prstGeom prst="roundRect">
            <a:avLst>
              <a:gd name="adj" fmla="val 5263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saludar("Ana")                    # llamar a una función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gr.Interface(fn=saludar, ...)     # instanciar una clase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825496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Python tienen exactamente la misma forma. No los vas a distinguir mirando la sintaxis.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374136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F8E9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795528" y="3483864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LA DIFERENCIA ESTÁ EN LO QUE DEVUELVEN  </a:t>
            </a:r>
            <a:r>
              <a:rPr lang="en-US" sz="1400" dirty="0">
                <a:solidFill>
                  <a:srgbClr val="1F2430"/>
                </a:solidFill>
              </a:rPr>
              <a:t>saludar("Ana") devuelve un dato: un texto. gr.Interface(...) devuelve un objeto. La prueba: demo.launch() existe.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Función, método y atributo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escribe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saludar(...)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Función: vive suelta, la llamás por su nombre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saludar("Ana")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demo.launch()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Método: una función que vive DENTRO de un objeto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demo.launch()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demo.title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Atributo: un dato que el objeto guarda adentro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demo.title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texto.upper()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también: los textos son objetos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"hola".upper()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3703320"/>
            <a:ext cx="9930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reconocen: el punto avisa que estás pidiendo algo que está adentro de un objeto. Si después del punto hay paréntesis, es un método. Si no hay, es un atributo.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dónde manda tu repositorio?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749808"/>
          </a:xfrm>
          <a:prstGeom prst="roundRect">
            <a:avLst>
              <a:gd name="adj" fmla="val 7317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532888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"origin", dos veces, con la dirección de GitHub.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081528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795528" y="3191256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08400"/>
                </a:solidFill>
              </a:rPr>
              <a:t>PREDICCIÓN 3 · VOTÁ ANTES  </a:t>
            </a:r>
            <a:r>
              <a:rPr lang="en-US" sz="1400" dirty="0">
                <a:solidFill>
                  <a:srgbClr val="1F2430"/>
                </a:solidFill>
              </a:rPr>
              <a:t>Si le cambio el nombre a origin, ¿se rompe la conexión con GitHub?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es un apodo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042416"/>
          </a:xfrm>
          <a:prstGeom prst="roundRect">
            <a:avLst>
              <a:gd name="adj" fmla="val 5263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rename origin github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github main          # funciona igual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825496"/>
            <a:ext cx="9930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no es una palabra reservada de git: es el nombre que git pone por defecto cuando clonás.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remoto es un nombre corto para una dirección donde vive una copia del repositorio.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lo elegís vos. Esto importa en veinte minutos.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no es el único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la distingue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Trae su propio sistema de integración continua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Bitbucket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Habitual en empresas que usan otras herramientas de Atlassian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Codeberg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fines de lucro, software libre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Gitea / Forgejo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instalan en un servidor propio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DevOps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Frecuente en organizaciones grandes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087368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comparten es git. Lo que cambia es lo que la plataforma hace alrededor del repositorio.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Face: tres tipos de repositorio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espera adentro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 la plataforma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pesos de un modelo entrenado y su ficha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aloja, lo documenta, deja probarlo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Datos, con su ficha y su licencia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aloja y deja explorarlos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código de una aplicación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aloja Y ADEMÁS LO EJECUTA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319272"/>
            <a:ext cx="9930384" cy="841248"/>
          </a:xfrm>
          <a:prstGeom prst="roundRect">
            <a:avLst>
              <a:gd name="adj" fmla="val 5435"/>
            </a:avLst>
          </a:prstGeom>
          <a:solidFill>
            <a:srgbClr val="E1EE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841248" y="3319272"/>
            <a:ext cx="9381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son repositorios de git. Un Space, además, levanta tu código y lo deja andando — eso es justo lo que GitHub no hace.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Creamos la cuenta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Entrá a huggingface.co y creá la cuenta.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 un nombre de usuario que puedas escribir de memoria: va a ser parte de la dirección de tu aplicación.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Verificá el correo. Sin eso no vas a poder publicar.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tengas la cuenta lista, escribí "ok" en el chat.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474720"/>
            <a:ext cx="9930384" cy="13716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795528" y="3584448"/>
            <a:ext cx="9473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08400"/>
                </a:solidFill>
              </a:rPr>
              <a:t>SI ALGO NO CARGA  </a:t>
            </a:r>
            <a:r>
              <a:rPr lang="en-US" sz="1400" dirty="0">
                <a:solidFill>
                  <a:srgbClr val="1F2430"/>
                </a:solidFill>
              </a:rPr>
              <a:t>Si estás en una computadora del trabajo y la página no abre, avisame por chat ahora. Seguimos desde el navegador con Codespaces, como en la Clase 3.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Creamos el Space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poner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usuario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espacios ni acentos. Va a ser parte de la dirección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qué permisos publicás tu código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Gradio ← frenamos acá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básico, gratuito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Público. El ticket de salida pide el link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471416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juntos, campo por campo. No adelantes.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B96A0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te pregunta el SDK?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ya está escrito. ¿No le alcanza con leerlo y darse cuenta solo?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9930384" cy="1645920"/>
          </a:xfrm>
          <a:prstGeom prst="roundRect">
            <a:avLst>
              <a:gd name="adj" fmla="val 3333"/>
            </a:avLst>
          </a:prstGeom>
          <a:solidFill>
            <a:srgbClr val="F8E9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795528" y="2258568"/>
            <a:ext cx="9473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LA RESPUESTA  </a:t>
            </a:r>
            <a:r>
              <a:rPr lang="en-US" sz="1400" dirty="0">
                <a:solidFill>
                  <a:srgbClr val="1F2430"/>
                </a:solidFill>
              </a:rPr>
              <a:t>Porque la plataforma tiene que saber cómo levantar tu aplicación antes de leer una sola línea de tu código. El SDK es un contrato: vos declarás "esto es Gradio", y la plataforma se compromete a arrancarlo como se arranca Gradio.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README que no escribiste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3383280"/>
          </a:xfrm>
          <a:prstGeom prst="roundRect">
            <a:avLst>
              <a:gd name="adj" fmla="val 1622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space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Mi App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emoji: 🚀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colorFrom: blue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colorTo: green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sdk: gradio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sdk_version: ...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app_file: app.py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pinned: false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166360"/>
            <a:ext cx="9930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Space nació con un commit propio. Lo que está entre las dos líneas de guiones no es decoración: es la configuración de tu aplicación.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campos que importan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decide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está 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qué se levanta tu aplicación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arranca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sdk_version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versión de Gradio se instala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Rompe por incompatibilidad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app_file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archivo se ejecuta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ejecuta nada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319272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1EE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841248" y="3319272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Acordate de estas tres líneas. Vamos a volver.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de escritura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tu contraseña en la terminal es darle a esa herramienta acceso completo a tu cuenta, para siempre.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token es una credencial acotada: se le da un solo permiso, se puede revocar, y podés tener uno por máquina.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el tuyo con permiso de escritura. Se muestra UNA sola vez. Copialo ahora.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474720"/>
            <a:ext cx="9930384" cy="13716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795528" y="3584448"/>
            <a:ext cx="9473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08400"/>
                </a:solidFill>
              </a:rPr>
              <a:t>AL PUBLICAR  </a:t>
            </a:r>
            <a:r>
              <a:rPr lang="en-US" sz="1400" dirty="0">
                <a:solidFill>
                  <a:srgbClr val="1F2430"/>
                </a:solidFill>
              </a:rPr>
              <a:t>El usuario es tu nombre de Hugging Face y la contraseña es el token. Lo hacemos antes de publicar, a propósito: así el error que veamos después va a ser el interesante.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repositorio, dos destinos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042416"/>
          </a:xfrm>
          <a:prstGeom prst="roundRect">
            <a:avLst>
              <a:gd name="adj" fmla="val 5263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space https://huggingface.co/spaces/USUARIO/NOMBRE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825496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puse "space" y no "origin" porque origin ya está ocupado por GitHub.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porque el nombre lo elegimos nosotros. Eso lo vimos hace veinte minutos.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tu repositorio local puede mandar su contenido a dos lugares distintos.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B96A0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 a funcionar?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749808"/>
          </a:xfrm>
          <a:prstGeom prst="roundRect">
            <a:avLst>
              <a:gd name="adj" fmla="val 7317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space main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532888"/>
            <a:ext cx="9930384" cy="822960"/>
          </a:xfrm>
          <a:prstGeom prst="roundRect">
            <a:avLst>
              <a:gd name="adj" fmla="val 6667"/>
            </a:avLst>
          </a:prstGeom>
          <a:solidFill>
            <a:srgbClr val="F8E9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795528" y="2642616"/>
            <a:ext cx="9473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VOTÁ POR EL CHAT, ANTES DE EJECUTAR  </a:t>
            </a:r>
            <a:r>
              <a:rPr lang="en-US" sz="1400" dirty="0">
                <a:solidFill>
                  <a:srgbClr val="1F2430"/>
                </a:solidFill>
              </a:rPr>
              <a:t>Sí, va a funcionar.   /   No, va a fallar.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A82F2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repositorio local viene de la Clase 2. Tiene su propia historia.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del Space nació hace diez minutos, con su README.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dos historias que no tienen ni un commit en común. Git no las mezcla sin permiso.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852928"/>
            <a:ext cx="9930384" cy="1371600"/>
          </a:xfrm>
          <a:prstGeom prst="roundRect">
            <a:avLst>
              <a:gd name="adj" fmla="val 4000"/>
            </a:avLst>
          </a:prstGeom>
          <a:solidFill>
            <a:srgbClr val="F8E9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795528" y="2962656"/>
            <a:ext cx="9473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ANTES DE ARREGLARLO  </a:t>
            </a:r>
            <a:r>
              <a:rPr lang="en-US" sz="1400" dirty="0">
                <a:solidFill>
                  <a:srgbClr val="1F2430"/>
                </a:solidFill>
              </a:rPr>
              <a:t>Leamos el error entero, en voz alta. ¿Qué parte del mensaje explica la causa? Casi todos los errores de git dicen qué pasó, y muchos dicen qué hacer.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antes de mandar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2505456"/>
          </a:xfrm>
          <a:prstGeom prst="roundRect">
            <a:avLst>
              <a:gd name="adj" fmla="val 2190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space main --allow-unrelated-histories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(tu README, el de la Clase 2)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(el README del Space, con su configuración)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88536"/>
            <a:ext cx="9930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estamos diciendo a git: sé que son dos historias distintas, unilas igual. Git no adivina: marca las dos versiones y te pide que decidas.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A82F2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Resolvemos el conflicto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Quedate con tu versión del README. Borrá la otra y los marcadores.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9930384" cy="1335024"/>
          </a:xfrm>
          <a:prstGeom prst="roundRect">
            <a:avLst>
              <a:gd name="adj" fmla="val 4110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49808" y="233172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05256" y="233172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60704" y="233172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1298448" y="227685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87752"/>
            <a:ext cx="9418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README.md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"Resuelvo el conflicto del README"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space main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666744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2F1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841248" y="3666744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sí funciona. El Space empieza a construirse.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B96A0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Space da error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F8E9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795528" y="1709928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HIPÓTESIS POR CHAT  </a:t>
            </a:r>
            <a:r>
              <a:rPr lang="en-US" sz="1400" dirty="0">
                <a:solidFill>
                  <a:srgbClr val="1F2430"/>
                </a:solidFill>
              </a:rPr>
              <a:t>¿Qué creen que falló? El código no lo tocamos. Funcionaba hace cinco minutos.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8036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abrir nada. Después abrimos los registros y comparamos.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la configuración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resolver el conflicto borramos el encabezado del README.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ese bloque, la plataforma no sabe qué SDK usar ni qué archivo ejecutar.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Space dejó de ser una aplicación: quedó como una carpeta con archivos adentro.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852928"/>
            <a:ext cx="9930384" cy="1627632"/>
          </a:xfrm>
          <a:prstGeom prst="roundRect">
            <a:avLst>
              <a:gd name="adj" fmla="val 3371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49808" y="3035808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05256" y="3035808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60704" y="3035808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1298448" y="2980944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91840"/>
            <a:ext cx="9418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reponer el encabezado al principio del README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README.md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"Repongo la configuración del Space"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space main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1EE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841248" y="1600200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Mandás → mirás los registros → corregís → volvés a mandar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313432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hacer esto muchas veces, y no significa que algo esté mal. Es cómo se trabaja.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62072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tu Space quede andando, pegá el link en el chat.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que no escribiste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pie de tu Space hay un enlace: "Use via API".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está documentado el punto de acceso, qué recibe y qué devuelve.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escribieron una función de tres líneas.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construyó el frontend, construyó la API y la documentó.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163824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 5 vamos a escribir una de estas a mano, para ver qué hace por dentro.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es el atajo. Blocks es el control.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4828032" cy="1472184"/>
          </a:xfrm>
          <a:prstGeom prst="roundRect">
            <a:avLst>
              <a:gd name="adj" fmla="val 3727"/>
            </a:avLst>
          </a:prstGeom>
          <a:solidFill>
            <a:srgbClr val="F0F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749808" y="17282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75688"/>
            <a:ext cx="44622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 una función.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la pantalla por vos.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elegís dónde va cada cosa.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600200"/>
            <a:ext cx="4828032" cy="2057400"/>
          </a:xfrm>
          <a:prstGeom prst="roundRect">
            <a:avLst>
              <a:gd name="adj" fmla="val 2667"/>
            </a:avLst>
          </a:prstGeom>
          <a:solidFill>
            <a:srgbClr val="F0F2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5852160" y="17282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075688"/>
            <a:ext cx="4462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decidís qué va arriba y qué al lado.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Podés tener varios componentes y varios botones.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decidís qué pasa cuando se aprieta cada uno.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84048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actividad los manda a la documentación de Blocks. Ahora la abrimos juntos para ver dónde está.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aplicación, con Blocks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2798064"/>
          </a:xfrm>
          <a:prstGeom prst="roundRect">
            <a:avLst>
              <a:gd name="adj" fmla="val 1961"/>
            </a:avLst>
          </a:prstGeom>
          <a:solidFill>
            <a:srgbClr val="13242F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gr.Blocks() as demo: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 = gr.Textbox(label="Tu nombre")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salida = gr.Textbox(label="Respuesta")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boton  = gr.Button("Saludar")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boton.click(fn=saludar, inputs=nombre, outputs=salida)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demo.launch()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581144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de siempre siguen ahí: fn, inputs, outputs. Ahora atados a un evento concreto.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fn=saludar sigue sin paréntesis, por la misma razón de hace una hora.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gr.Textbox(...) también instancia objetos: nombre y salida son objetos.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3419856" cy="274320"/>
          </a:xfrm>
          <a:prstGeom prst="roundRect">
            <a:avLst>
              <a:gd name="adj" fmla="val 50000"/>
            </a:avLst>
          </a:prstGeom>
          <a:solidFill>
            <a:srgbClr val="13795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PLAZO: HASTA EL INICIO DE LA CLASE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Modificá la interfaz de tu aplicación usando Blocks.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Buscá en la documentación un componente que no hayamos usado y sumalo.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una función nueva, con su parámetro y su return, conectada a su propio input y su propio output.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Publicá los cambios y verificá que el Space reconstruye y sigue funcionando.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474720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2F1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841248" y="3474720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ahora, juntos, el primer paso.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13795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 HOY · NO LLEVA NOTA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salida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E2F1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795528" y="1709928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3795B"/>
                </a:solidFill>
              </a:rPr>
              <a:t>DOS COSAS, DOS MINUTOS  </a:t>
            </a:r>
            <a:r>
              <a:rPr lang="en-US" sz="1400" dirty="0">
                <a:solidFill>
                  <a:srgbClr val="1F2430"/>
                </a:solidFill>
              </a:rPr>
              <a:t>1. El link público de tu Space.   2. Una captura de tu aplicación funcionando.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8036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Space todavía no arranca, entregá el link igual y contame en una línea en qué punto quedaste.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3685</Words>
  <Application>Microsoft Office PowerPoint</Application>
  <PresentationFormat>Panorámica</PresentationFormat>
  <Paragraphs>483</Paragraphs>
  <Slides>41</Slides>
  <Notes>41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5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 · Del repositorio local al Space</dc:title>
  <dc:subject>PptxGenJS Presentation</dc:subject>
  <dc:creator>Cynthia M. Villagra</dc:creator>
  <cp:lastModifiedBy>Grissel Blanco</cp:lastModifiedBy>
  <cp:revision>1</cp:revision>
  <dcterms:created xsi:type="dcterms:W3CDTF">2026-09-04T20:28:10Z</dcterms:created>
  <dcterms:modified xsi:type="dcterms:W3CDTF">2026-09-24T13:54:12Z</dcterms:modified>
</cp:coreProperties>
</file>